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ExtraBold"/>
      <p:bold r:id="rId27"/>
      <p:boldItalic r:id="rId28"/>
    </p:embeddedFon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ExtraBold-boldItalic.fntdata"/><Relationship Id="rId27" Type="http://schemas.openxmlformats.org/officeDocument/2006/relationships/font" Target="fonts/RobotoExtra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104ea36a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104ea36a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104ea36a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104ea36a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104ea36a8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104ea36a8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104ea36a8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104ea36a8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104ea36a8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104ea36a8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104ea36a8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104ea36a8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104ea36a8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104ea36a8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104ea36a8_0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104ea36a8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104ea36a8_0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104ea36a8_0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104ea36a8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104ea36a8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104ea36a8_0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104ea36a8_0_1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104ea36a8_0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104ea36a8_0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104ea36a8_0_1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104ea36a8_0_1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104ea36a8_0_2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104ea36a8_0_2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104ea36a8_0_1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f104ea36a8_0_1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104ea36a8_0_2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104ea36a8_0_2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104ea36a8_0_2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104ea36a8_0_2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104ea36a8_0_2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f104ea36a8_0_2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f104ea36a8_0_2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f104ea36a8_0_2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104ea36a8_0_2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104ea36a8_0_2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104ea36a8_0_2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f104ea36a8_0_2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104ea36a8_6_0)">
  <p:cSld name="Generated (g3f104ea36a8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7.jpg"/><Relationship Id="rId4"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7.jpg"/><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7.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2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7.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7.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30.jpg"/><Relationship Id="rId5"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7.jpg"/><Relationship Id="rId4" Type="http://schemas.openxmlformats.org/officeDocument/2006/relationships/image" Target="../media/image3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7.jpg"/><Relationship Id="rId4" Type="http://schemas.openxmlformats.org/officeDocument/2006/relationships/image" Target="../media/image3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3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7.jpg"/><Relationship Id="rId4" Type="http://schemas.openxmlformats.org/officeDocument/2006/relationships/image" Target="../media/image3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7.jpg"/><Relationship Id="rId4" Type="http://schemas.openxmlformats.org/officeDocument/2006/relationships/image" Target="../media/image3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7.jpg"/><Relationship Id="rId4" Type="http://schemas.openxmlformats.org/officeDocument/2006/relationships/image" Target="../media/image3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7.jpg"/><Relationship Id="rId4" Type="http://schemas.openxmlformats.org/officeDocument/2006/relationships/image" Target="../media/image4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7.jpg"/><Relationship Id="rId4" Type="http://schemas.openxmlformats.org/officeDocument/2006/relationships/image" Target="../media/image3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4">
            <a:alphaModFix/>
          </a:blip>
          <a:srcRect b="0" l="0" r="0" t="0"/>
          <a:stretch/>
        </p:blipFill>
        <p:spPr>
          <a:xfrm>
            <a:off x="0" y="0"/>
            <a:ext cx="9144000" cy="5143500"/>
          </a:xfrm>
          <a:prstGeom prst="rect">
            <a:avLst/>
          </a:prstGeom>
          <a:noFill/>
          <a:ln>
            <a:noFill/>
          </a:ln>
        </p:spPr>
      </p:pic>
      <p:sp>
        <p:nvSpPr>
          <p:cNvPr id="56" name="Google Shape;56;p14"/>
          <p:cNvSpPr txBox="1"/>
          <p:nvPr/>
        </p:nvSpPr>
        <p:spPr>
          <a:xfrm>
            <a:off x="637600" y="710475"/>
            <a:ext cx="8001000" cy="210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4200">
                <a:solidFill>
                  <a:srgbClr val="FFFFFF"/>
                </a:solidFill>
                <a:latin typeface="Roboto ExtraBold"/>
                <a:ea typeface="Roboto ExtraBold"/>
                <a:cs typeface="Roboto ExtraBold"/>
                <a:sym typeface="Roboto ExtraBold"/>
              </a:rPr>
              <a:t>ಮೊಘಲ್ ಸಾಮ್ರಾಜ್ಯ: ಉಗಮ, ಆಳ್ವಿಕೆ ಮತ್ತು ವೈಭವ</a:t>
            </a:r>
            <a:endParaRPr b="0" sz="4200">
              <a:solidFill>
                <a:srgbClr val="FFFFFF"/>
              </a:solidFill>
              <a:latin typeface="Roboto ExtraBold"/>
              <a:ea typeface="Roboto ExtraBold"/>
              <a:cs typeface="Roboto ExtraBold"/>
              <a:sym typeface="Roboto ExtraBold"/>
            </a:endParaRPr>
          </a:p>
        </p:txBody>
      </p:sp>
      <p:sp>
        <p:nvSpPr>
          <p:cNvPr id="57" name="Google Shape;57;p14"/>
          <p:cNvSpPr txBox="1"/>
          <p:nvPr/>
        </p:nvSpPr>
        <p:spPr>
          <a:xfrm>
            <a:off x="637600" y="2665113"/>
            <a:ext cx="74952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2000">
                <a:solidFill>
                  <a:srgbClr val="FFD700"/>
                </a:solidFill>
                <a:latin typeface="Roboto"/>
                <a:ea typeface="Roboto"/>
                <a:cs typeface="Roboto"/>
                <a:sym typeface="Roboto"/>
              </a:rPr>
              <a:t>ಅಧ್ಯಾಯ 15: ಮೊಘಲರು ಹಾಗೂ ಮರಾಠರು</a:t>
            </a:r>
            <a:endParaRPr b="0" sz="2000">
              <a:solidFill>
                <a:srgbClr val="FFD700"/>
              </a:solidFill>
              <a:latin typeface="Roboto"/>
              <a:ea typeface="Roboto"/>
              <a:cs typeface="Roboto"/>
              <a:sym typeface="Roboto"/>
            </a:endParaRPr>
          </a:p>
        </p:txBody>
      </p:sp>
      <p:sp>
        <p:nvSpPr>
          <p:cNvPr id="58" name="Google Shape;58;p14"/>
          <p:cNvSpPr/>
          <p:nvPr/>
        </p:nvSpPr>
        <p:spPr>
          <a:xfrm>
            <a:off x="8572500" y="0"/>
            <a:ext cx="571500" cy="571500"/>
          </a:xfrm>
          <a:custGeom>
            <a:rect b="b" l="l" r="r" t="t"/>
            <a:pathLst>
              <a:path extrusionOk="0" h="120000" w="120000">
                <a:moveTo>
                  <a:pt x="120000" y="0"/>
                </a:moveTo>
                <a:lnTo>
                  <a:pt x="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0" y="4572000"/>
            <a:ext cx="571500" cy="571500"/>
          </a:xfrm>
          <a:custGeom>
            <a:rect b="b" l="l" r="r" t="t"/>
            <a:pathLst>
              <a:path extrusionOk="0" h="120000" w="120000">
                <a:moveTo>
                  <a:pt x="0" y="120000"/>
                </a:moveTo>
                <a:lnTo>
                  <a:pt x="120000" y="120000"/>
                </a:lnTo>
                <a:lnTo>
                  <a:pt x="0" y="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txBox="1"/>
          <p:nvPr/>
        </p:nvSpPr>
        <p:spPr>
          <a:xfrm>
            <a:off x="1786350" y="3396400"/>
            <a:ext cx="55713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450">
                <a:solidFill>
                  <a:srgbClr val="1F1F1F"/>
                </a:solidFill>
                <a:highlight>
                  <a:srgbClr val="E9EEF6"/>
                </a:highlight>
                <a:latin typeface="Roboto"/>
                <a:ea typeface="Roboto"/>
                <a:cs typeface="Roboto"/>
                <a:sym typeface="Roboto"/>
              </a:rPr>
              <a:t>ಪ್ರಸ್ತುತಿ: ಶ್ರೀ ಚಂದ್ರಕಾಂತ ಗೌಡ, ಜಿ.ಪಿ.ಟಿ. ಸಮಾಜ ವಿಜ್ಞಾನ </a:t>
            </a:r>
            <a:endParaRPr b="1" sz="1450">
              <a:solidFill>
                <a:srgbClr val="1F1F1F"/>
              </a:solidFill>
              <a:highlight>
                <a:srgbClr val="E9EEF6"/>
              </a:highlight>
              <a:latin typeface="Roboto"/>
              <a:ea typeface="Roboto"/>
              <a:cs typeface="Roboto"/>
              <a:sym typeface="Roboto"/>
            </a:endParaRPr>
          </a:p>
          <a:p>
            <a:pPr indent="0" lvl="0" marL="0" rtl="0" algn="ctr">
              <a:spcBef>
                <a:spcPts val="0"/>
              </a:spcBef>
              <a:spcAft>
                <a:spcPts val="0"/>
              </a:spcAft>
              <a:buNone/>
            </a:pPr>
            <a:r>
              <a:rPr b="1" lang="en" sz="1450">
                <a:solidFill>
                  <a:srgbClr val="1F1F1F"/>
                </a:solidFill>
                <a:highlight>
                  <a:srgbClr val="E9EEF6"/>
                </a:highlight>
                <a:latin typeface="Roboto"/>
                <a:ea typeface="Roboto"/>
                <a:cs typeface="Roboto"/>
                <a:sym typeface="Roboto"/>
              </a:rPr>
              <a:t>                ಶಿಕ್ಷಕರು, ಸ.ಹಿ.ಪ್ರಾ.ಶಾಲೆ ಚೆಂಡಿಯಾ ನಂ.1 </a:t>
            </a:r>
            <a:endParaRPr b="1" sz="1450">
              <a:solidFill>
                <a:srgbClr val="1F1F1F"/>
              </a:solidFill>
              <a:highlight>
                <a:srgbClr val="E9EEF6"/>
              </a:highlight>
              <a:latin typeface="Roboto"/>
              <a:ea typeface="Roboto"/>
              <a:cs typeface="Roboto"/>
              <a:sym typeface="Roboto"/>
            </a:endParaRPr>
          </a:p>
          <a:p>
            <a:pPr indent="0" lvl="0" marL="0" rtl="0" algn="ctr">
              <a:spcBef>
                <a:spcPts val="0"/>
              </a:spcBef>
              <a:spcAft>
                <a:spcPts val="0"/>
              </a:spcAft>
              <a:buNone/>
            </a:pPr>
            <a:r>
              <a:rPr b="1" lang="en" sz="1450">
                <a:solidFill>
                  <a:srgbClr val="1F1F1F"/>
                </a:solidFill>
                <a:highlight>
                  <a:srgbClr val="E9EEF6"/>
                </a:highlight>
                <a:latin typeface="Roboto"/>
                <a:ea typeface="Roboto"/>
                <a:cs typeface="Roboto"/>
                <a:sym typeface="Roboto"/>
              </a:rPr>
              <a:t>               ತಾ: ಕಾರವಾರ, ಉತ್ತರ ಕನ್ನಡ </a:t>
            </a:r>
            <a:r>
              <a:rPr b="1" lang="en" sz="1500">
                <a:solidFill>
                  <a:schemeClr val="dk1"/>
                </a:solidFill>
              </a:rPr>
              <a:t> </a:t>
            </a:r>
            <a:endParaRPr b="1"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rotWithShape="1">
          <a:blip r:embed="rId3">
            <a:alphaModFix/>
          </a:blip>
          <a:srcRect b="0" l="387" r="387" t="0"/>
          <a:stretch/>
        </p:blipFill>
        <p:spPr>
          <a:xfrm>
            <a:off x="0" y="0"/>
            <a:ext cx="9144000" cy="5143500"/>
          </a:xfrm>
          <a:prstGeom prst="rect">
            <a:avLst/>
          </a:prstGeom>
          <a:noFill/>
          <a:ln>
            <a:noFill/>
          </a:ln>
        </p:spPr>
      </p:pic>
      <p:sp>
        <p:nvSpPr>
          <p:cNvPr id="66" name="Google Shape;66;p15"/>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5"/>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5"/>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5"/>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ಪಾಠದ ಪರಿಚಯ</a:t>
            </a:r>
            <a:endParaRPr b="0" sz="3200">
              <a:solidFill>
                <a:srgbClr val="FFD700"/>
              </a:solidFill>
              <a:latin typeface="Roboto ExtraBold"/>
              <a:ea typeface="Roboto ExtraBold"/>
              <a:cs typeface="Roboto ExtraBold"/>
              <a:sym typeface="Roboto ExtraBold"/>
            </a:endParaRPr>
          </a:p>
        </p:txBody>
      </p:sp>
      <p:sp>
        <p:nvSpPr>
          <p:cNvPr id="70" name="Google Shape;70;p15"/>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5"/>
          <p:cNvSpPr txBox="1"/>
          <p:nvPr/>
        </p:nvSpPr>
        <p:spPr>
          <a:xfrm>
            <a:off x="762000" y="1428750"/>
            <a:ext cx="3429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00">
                <a:solidFill>
                  <a:srgbClr val="FFFFFF"/>
                </a:solidFill>
                <a:latin typeface="Roboto"/>
                <a:ea typeface="Roboto"/>
                <a:cs typeface="Roboto"/>
                <a:sym typeface="Roboto"/>
              </a:rPr>
              <a:t>• ಸಾ.ಶ. 1526ರಲ್ಲಿ ಬಾಬರ್‌ನಿಂದ ಸ್ಥಾಪನೆ.</a:t>
            </a:r>
            <a:endParaRPr b="0" sz="1800">
              <a:solidFill>
                <a:srgbClr val="FFFFFF"/>
              </a:solidFill>
              <a:latin typeface="Roboto"/>
              <a:ea typeface="Roboto"/>
              <a:cs typeface="Roboto"/>
              <a:sym typeface="Roboto"/>
            </a:endParaRPr>
          </a:p>
          <a:p>
            <a:pPr indent="0" lvl="0" marL="0" rtl="0" algn="l">
              <a:spcBef>
                <a:spcPts val="900"/>
              </a:spcBef>
              <a:spcAft>
                <a:spcPts val="0"/>
              </a:spcAft>
              <a:buNone/>
            </a:pPr>
            <a:r>
              <a:rPr b="0" lang="en" sz="1800">
                <a:solidFill>
                  <a:srgbClr val="FFFFFF"/>
                </a:solidFill>
                <a:latin typeface="Roboto"/>
                <a:ea typeface="Roboto"/>
                <a:cs typeface="Roboto"/>
                <a:sym typeface="Roboto"/>
              </a:rPr>
              <a:t>• ದೆಹಲಿ ಸುಲ್ತಾನರ ಆಳ್ವಿಕೆಯ ಅಂತ್ಯ.</a:t>
            </a:r>
            <a:endParaRPr b="0" sz="1800">
              <a:solidFill>
                <a:srgbClr val="FFFFFF"/>
              </a:solidFill>
              <a:latin typeface="Roboto"/>
              <a:ea typeface="Roboto"/>
              <a:cs typeface="Roboto"/>
              <a:sym typeface="Roboto"/>
            </a:endParaRPr>
          </a:p>
          <a:p>
            <a:pPr indent="0" lvl="0" marL="0" rtl="0" algn="l">
              <a:spcBef>
                <a:spcPts val="900"/>
              </a:spcBef>
              <a:spcAft>
                <a:spcPts val="0"/>
              </a:spcAft>
              <a:buNone/>
            </a:pPr>
            <a:r>
              <a:rPr b="0" lang="en" sz="1800">
                <a:solidFill>
                  <a:srgbClr val="FFFFFF"/>
                </a:solidFill>
                <a:latin typeface="Roboto"/>
                <a:ea typeface="Roboto"/>
                <a:cs typeface="Roboto"/>
                <a:sym typeface="Roboto"/>
              </a:rPr>
              <a:t>• ಮೊಘಲರ ಎರಡು ಶತಮಾನಗಳ ಆಳ್ವಿಕೆ.</a:t>
            </a:r>
            <a:endParaRPr b="0" sz="1800">
              <a:solidFill>
                <a:srgbClr val="FFFFFF"/>
              </a:solidFill>
              <a:latin typeface="Roboto"/>
              <a:ea typeface="Roboto"/>
              <a:cs typeface="Roboto"/>
              <a:sym typeface="Roboto"/>
            </a:endParaRPr>
          </a:p>
          <a:p>
            <a:pPr indent="0" lvl="0" marL="0" rtl="0" algn="l">
              <a:spcBef>
                <a:spcPts val="900"/>
              </a:spcBef>
              <a:spcAft>
                <a:spcPts val="900"/>
              </a:spcAft>
              <a:buNone/>
            </a:pPr>
            <a:r>
              <a:rPr b="0" lang="en" sz="1800">
                <a:solidFill>
                  <a:srgbClr val="FFFFFF"/>
                </a:solidFill>
                <a:latin typeface="Roboto"/>
                <a:ea typeface="Roboto"/>
                <a:cs typeface="Roboto"/>
                <a:sym typeface="Roboto"/>
              </a:rPr>
              <a:t>• ಸಾಹಿತ್ಯ, ಕಲೆ ಮತ್ತು ವಾಸ್ತುಶಿಲ್ಪಕ್ಕೆ ಅಪಾರ ಕೊಡುಗೆ.</a:t>
            </a:r>
            <a:endParaRPr b="0" sz="1800">
              <a:solidFill>
                <a:srgbClr val="FFFFFF"/>
              </a:solidFill>
              <a:latin typeface="Roboto"/>
              <a:ea typeface="Roboto"/>
              <a:cs typeface="Roboto"/>
              <a:sym typeface="Roboto"/>
            </a:endParaRPr>
          </a:p>
        </p:txBody>
      </p:sp>
      <p:pic>
        <p:nvPicPr>
          <p:cNvPr descr="A grand classical Mughal painting style illustration depicting a group of Mughal emperors sitting together in a majestic court setting, rich colors, intricate details, gold accents, historical ambiance." id="72" name="Google Shape;72;p15"/>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73" name="Google Shape;73;p15"/>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6"/>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79" name="Google Shape;79;p16"/>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6"/>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16"/>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6"/>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900"/>
              </a:spcAft>
              <a:buNone/>
            </a:pPr>
            <a:r>
              <a:rPr b="0" lang="en" sz="3200">
                <a:solidFill>
                  <a:srgbClr val="FFD700"/>
                </a:solidFill>
                <a:latin typeface="Roboto ExtraBold"/>
                <a:ea typeface="Roboto ExtraBold"/>
                <a:cs typeface="Roboto ExtraBold"/>
                <a:sym typeface="Roboto ExtraBold"/>
              </a:rPr>
              <a:t>ಮೊಘಲ್ ಸಾಮ್ರಾಜ್ಯದ ಸ್ಥಾಪಕ - ಬಾಬರ್</a:t>
            </a:r>
            <a:endParaRPr b="0" sz="3200">
              <a:solidFill>
                <a:srgbClr val="FFD700"/>
              </a:solidFill>
              <a:latin typeface="Roboto ExtraBold"/>
              <a:ea typeface="Roboto ExtraBold"/>
              <a:cs typeface="Roboto ExtraBold"/>
              <a:sym typeface="Roboto ExtraBold"/>
            </a:endParaRPr>
          </a:p>
        </p:txBody>
      </p:sp>
      <p:sp>
        <p:nvSpPr>
          <p:cNvPr id="83" name="Google Shape;83;p16"/>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6"/>
          <p:cNvSpPr txBox="1"/>
          <p:nvPr/>
        </p:nvSpPr>
        <p:spPr>
          <a:xfrm>
            <a:off x="809625" y="1476375"/>
            <a:ext cx="33339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ಮಂಗೋಲ್ ಸಂತತಿಯವನು.</a:t>
            </a:r>
            <a:endParaRPr b="0" sz="1800">
              <a:solidFill>
                <a:srgbClr val="FFFFFF"/>
              </a:solidFill>
              <a:latin typeface="Roboto"/>
              <a:ea typeface="Roboto"/>
              <a:cs typeface="Roboto"/>
              <a:sym typeface="Roboto"/>
            </a:endParaRPr>
          </a:p>
          <a:p>
            <a:pPr indent="-342900" lvl="0" marL="457200" rtl="0" algn="l">
              <a:spcBef>
                <a:spcPts val="9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ಕಾಬೂಲ್‌ನಿಂದ ಭಾರತದ ಮೇಲೆ ದಂಡೆತ್ತಿ ಬಂದನು.</a:t>
            </a:r>
            <a:endParaRPr b="0" sz="1800">
              <a:solidFill>
                <a:srgbClr val="FFFFFF"/>
              </a:solidFill>
              <a:latin typeface="Roboto"/>
              <a:ea typeface="Roboto"/>
              <a:cs typeface="Roboto"/>
              <a:sym typeface="Roboto"/>
            </a:endParaRPr>
          </a:p>
          <a:p>
            <a:pPr indent="-342900" lvl="0" marL="457200" rtl="0" algn="l">
              <a:spcBef>
                <a:spcPts val="9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ದೆಹಲಿ, ಆಗ್ರಾ ಮತ್ತು ಸುತ್ತಮುತ್ತಲಿನ ಪ್ರದೇಶಗಳನ್ನು ವಶಪಡಿಸಿಕೊಂಡನು.</a:t>
            </a:r>
            <a:endParaRPr b="0" sz="1800">
              <a:solidFill>
                <a:srgbClr val="FFFFFF"/>
              </a:solidFill>
              <a:latin typeface="Roboto"/>
              <a:ea typeface="Roboto"/>
              <a:cs typeface="Roboto"/>
              <a:sym typeface="Roboto"/>
            </a:endParaRPr>
          </a:p>
          <a:p>
            <a:pPr indent="-342900" lvl="0" marL="457200" rtl="0" algn="l">
              <a:spcBef>
                <a:spcPts val="900"/>
              </a:spcBef>
              <a:spcAft>
                <a:spcPts val="900"/>
              </a:spcAft>
              <a:buClr>
                <a:srgbClr val="FFFFFF"/>
              </a:buClr>
              <a:buSzPts val="1800"/>
              <a:buFont typeface="Roboto"/>
              <a:buChar char="●"/>
            </a:pPr>
            <a:r>
              <a:rPr b="0" lang="en" sz="1800">
                <a:solidFill>
                  <a:srgbClr val="FFFFFF"/>
                </a:solidFill>
                <a:latin typeface="Roboto"/>
                <a:ea typeface="Roboto"/>
                <a:cs typeface="Roboto"/>
                <a:sym typeface="Roboto"/>
              </a:rPr>
              <a:t>ಭಾರತಕ್ಕೆ ಗುಲಾಬಿಯನ್ನು ಪರಿಚಯಿಸಿದವನು.</a:t>
            </a:r>
            <a:endParaRPr b="0" sz="1800">
              <a:solidFill>
                <a:srgbClr val="FFFFFF"/>
              </a:solidFill>
              <a:latin typeface="Roboto"/>
              <a:ea typeface="Roboto"/>
              <a:cs typeface="Roboto"/>
              <a:sym typeface="Roboto"/>
            </a:endParaRPr>
          </a:p>
        </p:txBody>
      </p:sp>
      <p:pic>
        <p:nvPicPr>
          <p:cNvPr descr="A grand historical portrait of the first Mughal Emperor Babur, wearing traditional royal attire and a turban, in the style of classical Mughal miniature painting with intricate floral borders and gold accents." id="85" name="Google Shape;85;p16"/>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86" name="Google Shape;86;p16"/>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2" name="Google Shape;92;p17"/>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7"/>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7"/>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7"/>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ಹುಮಾಯೂನ್‌ನ ಸಂಘರ್ಷಮಯ ಆಳ್ವಿಕೆ</a:t>
            </a:r>
            <a:endParaRPr b="0" sz="3200">
              <a:solidFill>
                <a:srgbClr val="FFD700"/>
              </a:solidFill>
              <a:latin typeface="Roboto ExtraBold"/>
              <a:ea typeface="Roboto ExtraBold"/>
              <a:cs typeface="Roboto ExtraBold"/>
              <a:sym typeface="Roboto ExtraBold"/>
            </a:endParaRPr>
          </a:p>
        </p:txBody>
      </p:sp>
      <p:sp>
        <p:nvSpPr>
          <p:cNvPr id="96" name="Google Shape;96;p17"/>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7"/>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ಬಾಬರ್‌ನ ಮಗ ಹುಮಾಯೂನ್.</a:t>
            </a:r>
            <a:endParaRPr b="0" sz="1800">
              <a:solidFill>
                <a:srgbClr val="FFFFFF"/>
              </a:solidFill>
              <a:latin typeface="Roboto"/>
              <a:ea typeface="Roboto"/>
              <a:cs typeface="Roboto"/>
              <a:sym typeface="Roboto"/>
            </a:endParaRPr>
          </a:p>
          <a:p>
            <a:pPr indent="-342900" lvl="0" marL="457200" rtl="0" algn="l">
              <a:spcBef>
                <a:spcPts val="9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ಶೇರ್‌ಷಾ ಸೂರಿಯಿಂದ ಪರಾಜಯ.</a:t>
            </a:r>
            <a:endParaRPr b="0" sz="1800">
              <a:solidFill>
                <a:srgbClr val="FFFFFF"/>
              </a:solidFill>
              <a:latin typeface="Roboto"/>
              <a:ea typeface="Roboto"/>
              <a:cs typeface="Roboto"/>
              <a:sym typeface="Roboto"/>
            </a:endParaRPr>
          </a:p>
          <a:p>
            <a:pPr indent="-342900" lvl="0" marL="457200" rtl="0" algn="l">
              <a:spcBef>
                <a:spcPts val="9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15 ವರ್ಷ ಪರ್ಷಿಯಾಕ್ಕೆ ಪಲಾಯನ.</a:t>
            </a:r>
            <a:endParaRPr b="0" sz="1800">
              <a:solidFill>
                <a:srgbClr val="FFFFFF"/>
              </a:solidFill>
              <a:latin typeface="Roboto"/>
              <a:ea typeface="Roboto"/>
              <a:cs typeface="Roboto"/>
              <a:sym typeface="Roboto"/>
            </a:endParaRPr>
          </a:p>
          <a:p>
            <a:pPr indent="-342900" lvl="0" marL="457200" rtl="0" algn="l">
              <a:spcBef>
                <a:spcPts val="900"/>
              </a:spcBef>
              <a:spcAft>
                <a:spcPts val="900"/>
              </a:spcAft>
              <a:buClr>
                <a:srgbClr val="FFFFFF"/>
              </a:buClr>
              <a:buSzPts val="1800"/>
              <a:buFont typeface="Roboto"/>
              <a:buChar char="●"/>
            </a:pPr>
            <a:r>
              <a:rPr b="0" lang="en" sz="1800">
                <a:solidFill>
                  <a:srgbClr val="FFFFFF"/>
                </a:solidFill>
                <a:latin typeface="Roboto"/>
                <a:ea typeface="Roboto"/>
                <a:cs typeface="Roboto"/>
                <a:sym typeface="Roboto"/>
              </a:rPr>
              <a:t>ಮತ್ತೆ ದೆಹಲಿಯನ್ನು ವಶಪಡಿಸಿಕೊಂಡನು.</a:t>
            </a:r>
            <a:endParaRPr b="0" sz="1800">
              <a:solidFill>
                <a:srgbClr val="FFFFFF"/>
              </a:solidFill>
              <a:latin typeface="Roboto"/>
              <a:ea typeface="Roboto"/>
              <a:cs typeface="Roboto"/>
              <a:sym typeface="Roboto"/>
            </a:endParaRPr>
          </a:p>
        </p:txBody>
      </p:sp>
      <p:pic>
        <p:nvPicPr>
          <p:cNvPr descr="A grand historical portrait of the Mughal Emperor Humayun in classical miniature painting style, wearing royal silk robes and a decorative turban, set against a background of Islamic architectural motifs with a gold-leaf border." id="98" name="Google Shape;98;p17"/>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99" name="Google Shape;99;p17"/>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8"/>
          <p:cNvPicPr preferRelativeResize="0"/>
          <p:nvPr/>
        </p:nvPicPr>
        <p:blipFill rotWithShape="1">
          <a:blip r:embed="rId3">
            <a:alphaModFix/>
          </a:blip>
          <a:srcRect b="0" l="387" r="387" t="0"/>
          <a:stretch/>
        </p:blipFill>
        <p:spPr>
          <a:xfrm>
            <a:off x="0" y="0"/>
            <a:ext cx="9144000" cy="5143500"/>
          </a:xfrm>
          <a:prstGeom prst="rect">
            <a:avLst/>
          </a:prstGeom>
          <a:noFill/>
          <a:ln>
            <a:noFill/>
          </a:ln>
        </p:spPr>
      </p:pic>
      <p:sp>
        <p:nvSpPr>
          <p:cNvPr id="105" name="Google Shape;105;p18"/>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8"/>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8"/>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8"/>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ಅಕ್ಬರ್ - ಸಾಮ್ರಾಜ್ಯದ ನಿರ್ಮಾತೃ</a:t>
            </a:r>
            <a:endParaRPr b="0" sz="3200">
              <a:solidFill>
                <a:srgbClr val="FFD700"/>
              </a:solidFill>
              <a:latin typeface="Roboto ExtraBold"/>
              <a:ea typeface="Roboto ExtraBold"/>
              <a:cs typeface="Roboto ExtraBold"/>
              <a:sym typeface="Roboto ExtraBold"/>
            </a:endParaRPr>
          </a:p>
        </p:txBody>
      </p:sp>
      <p:sp>
        <p:nvSpPr>
          <p:cNvPr id="109" name="Google Shape;109;p18"/>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8"/>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ವಿಶಾಲ ಸಾಮ್ರಾಜ್ಯದ ಆಕಾಂಕ್ಷಿ.</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ರಾಜಪೂತರೊಂದಿಗೆ ಮೈತ್ರಿ, ಆದರೆ ಮೇವಾಡದ ರಾಣಾ ಪ್ರತಾಪಸಿಂಹನ ತೀವ್ರ ಪ್ರತಿರೋಧ.</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ಹಲ್ದಿಘಾಟ್ ಕದನ (ರಾಜಸ್ಥಾನ).</a:t>
            </a:r>
            <a:endParaRPr b="0" sz="1800">
              <a:solidFill>
                <a:srgbClr val="FFFFFF"/>
              </a:solidFill>
              <a:latin typeface="Roboto"/>
              <a:ea typeface="Roboto"/>
              <a:cs typeface="Roboto"/>
              <a:sym typeface="Roboto"/>
            </a:endParaRPr>
          </a:p>
        </p:txBody>
      </p:sp>
      <p:pic>
        <p:nvPicPr>
          <p:cNvPr descr="A grand historical portrait of the Mughal Emperor Akbar the Great, in the style of classical Mughal miniature painting. He is dressed in ornate royal robes with a majestic turban, set against a background of palace architectural details with a decorative gold border." id="111" name="Google Shape;111;p18"/>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12" name="Google Shape;112;p18"/>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19"/>
          <p:cNvPicPr preferRelativeResize="0"/>
          <p:nvPr/>
        </p:nvPicPr>
        <p:blipFill rotWithShape="1">
          <a:blip r:embed="rId3">
            <a:alphaModFix/>
          </a:blip>
          <a:srcRect b="0" l="387" r="387" t="0"/>
          <a:stretch/>
        </p:blipFill>
        <p:spPr>
          <a:xfrm>
            <a:off x="0" y="0"/>
            <a:ext cx="9144000" cy="5143500"/>
          </a:xfrm>
          <a:prstGeom prst="rect">
            <a:avLst/>
          </a:prstGeom>
          <a:noFill/>
          <a:ln>
            <a:noFill/>
          </a:ln>
        </p:spPr>
      </p:pic>
      <p:sp>
        <p:nvSpPr>
          <p:cNvPr id="118" name="Google Shape;118;p19"/>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9"/>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9"/>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9"/>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ರಾಣಾ ಪ್ರತಾಪಸಿಂಹನ ಸಾಹಸ</a:t>
            </a:r>
            <a:endParaRPr b="0" sz="3200">
              <a:solidFill>
                <a:srgbClr val="FFD700"/>
              </a:solidFill>
              <a:latin typeface="Roboto ExtraBold"/>
              <a:ea typeface="Roboto ExtraBold"/>
              <a:cs typeface="Roboto ExtraBold"/>
              <a:sym typeface="Roboto ExtraBold"/>
            </a:endParaRPr>
          </a:p>
        </p:txBody>
      </p:sp>
      <p:sp>
        <p:nvSpPr>
          <p:cNvPr id="122" name="Google Shape;122;p19"/>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9"/>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ಸ್ವಾಭಿಮಾನಿ ಮತ್ತು ಮಹಾಶೂರ.</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ಚೇತಕ್ ಹೆಸರಿನ ನೆಚ್ಚಿನ ಕುದುರೆ.</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ಭಾರತೀಯರ ಕಣ್ಮಣಿಯಾಗಿರುವ ಸ್ವಾತಂತ್ರ್ಯ ಹೋರಾಟಗಾರ.</a:t>
            </a:r>
            <a:endParaRPr b="0" sz="1800">
              <a:solidFill>
                <a:srgbClr val="FFFFFF"/>
              </a:solidFill>
              <a:latin typeface="Roboto"/>
              <a:ea typeface="Roboto"/>
              <a:cs typeface="Roboto"/>
              <a:sym typeface="Roboto"/>
            </a:endParaRPr>
          </a:p>
        </p:txBody>
      </p:sp>
      <p:pic>
        <p:nvPicPr>
          <p:cNvPr descr="A majestic historical statue of the Rajput warrior Rana Pratap Singh riding his legendary horse Chetak, heroic pose, set against a dramatic sky or historical fort background, in a style that complements classical Indian history illustrations." id="124" name="Google Shape;124;p19"/>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25" name="Google Shape;125;p19"/>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0"/>
          <p:cNvPicPr preferRelativeResize="0"/>
          <p:nvPr/>
        </p:nvPicPr>
        <p:blipFill rotWithShape="1">
          <a:blip r:embed="rId3">
            <a:alphaModFix/>
          </a:blip>
          <a:srcRect b="0" l="387" r="387" t="0"/>
          <a:stretch/>
        </p:blipFill>
        <p:spPr>
          <a:xfrm>
            <a:off x="0" y="0"/>
            <a:ext cx="9144000" cy="5143500"/>
          </a:xfrm>
          <a:prstGeom prst="rect">
            <a:avLst/>
          </a:prstGeom>
          <a:noFill/>
          <a:ln>
            <a:noFill/>
          </a:ln>
        </p:spPr>
      </p:pic>
      <p:sp>
        <p:nvSpPr>
          <p:cNvPr id="131" name="Google Shape;131;p20"/>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20"/>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20"/>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20"/>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ಅಕ್ಬರ್‌ನ ಆಡಳಿತ ವ್ಯವಸ್ಥೆ</a:t>
            </a:r>
            <a:endParaRPr b="0" sz="3200">
              <a:solidFill>
                <a:srgbClr val="FFD700"/>
              </a:solidFill>
              <a:latin typeface="Roboto ExtraBold"/>
              <a:ea typeface="Roboto ExtraBold"/>
              <a:cs typeface="Roboto ExtraBold"/>
              <a:sym typeface="Roboto ExtraBold"/>
            </a:endParaRPr>
          </a:p>
        </p:txBody>
      </p:sp>
      <p:sp>
        <p:nvSpPr>
          <p:cNvPr id="135" name="Google Shape;135;p20"/>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20"/>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ಹಿಂದುಗಳಿಗೆ ಆಸ್ಥಾನದಲ್ಲಿ ಉನ್ನತ ಹುದ್ದೆ.</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ಜೆಸಿಯಾ (ಜಿಜಿಯಾ) ಮತ್ತು ಯಾತ್ರಾ ತೆರಿಗೆ ರದ್ದು.</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ಸತಿ ಪದ್ಧತಿ, ಬಾಲ್ಯವಿವಾಹ ನಿಷೇಧ.</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ರಾಜಾ ತೋದರ್‌ಮಲ್‌ನಿಂದ ಭೂಕಂದಾಯ ಪದ್ಧತಿ ರೂಪಿಸಲ್ಪಟ್ಟಿತು.</a:t>
            </a:r>
            <a:endParaRPr b="0" sz="1800">
              <a:solidFill>
                <a:srgbClr val="FFFFFF"/>
              </a:solidFill>
              <a:latin typeface="Roboto"/>
              <a:ea typeface="Roboto"/>
              <a:cs typeface="Roboto"/>
              <a:sym typeface="Roboto"/>
            </a:endParaRPr>
          </a:p>
        </p:txBody>
      </p:sp>
      <p:pic>
        <p:nvPicPr>
          <p:cNvPr descr="A grand historical illustration of Mughal Emperor Akbar holding a meeting (Durbar) in his court. He is seated on a magnificent throne, surrounded by ministers and scholars including Hindus like Raja Todar Mal. The scene features Persian-style carpets, intricate marble carvings, and a scholarly, inclusive atmosphere in the style of classical Mughal miniature painting." id="137" name="Google Shape;137;p20"/>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38" name="Google Shape;138;p20"/>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1"/>
          <p:cNvPicPr preferRelativeResize="0"/>
          <p:nvPr/>
        </p:nvPicPr>
        <p:blipFill rotWithShape="1">
          <a:blip r:embed="rId3">
            <a:alphaModFix/>
          </a:blip>
          <a:srcRect b="0" l="387" r="387" t="0"/>
          <a:stretch/>
        </p:blipFill>
        <p:spPr>
          <a:xfrm>
            <a:off x="0" y="0"/>
            <a:ext cx="9144000" cy="5143500"/>
          </a:xfrm>
          <a:prstGeom prst="rect">
            <a:avLst/>
          </a:prstGeom>
          <a:noFill/>
          <a:ln>
            <a:noFill/>
          </a:ln>
        </p:spPr>
      </p:pic>
      <p:sp>
        <p:nvSpPr>
          <p:cNvPr id="144" name="Google Shape;144;p21"/>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21"/>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21"/>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21"/>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ಅಕ್ಬರ್‌ನ ಧಾರ್ಮಿಕ ನೀತಿ</a:t>
            </a:r>
            <a:endParaRPr b="0" sz="3200">
              <a:solidFill>
                <a:srgbClr val="FFD700"/>
              </a:solidFill>
              <a:latin typeface="Roboto ExtraBold"/>
              <a:ea typeface="Roboto ExtraBold"/>
              <a:cs typeface="Roboto ExtraBold"/>
              <a:sym typeface="Roboto ExtraBold"/>
            </a:endParaRPr>
          </a:p>
        </p:txBody>
      </p:sp>
      <p:sp>
        <p:nvSpPr>
          <p:cNvPr id="148" name="Google Shape;148;p21"/>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21"/>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ಧಾರ್ಮಿಕ ಸಹಿಷ್ಣುತೆ.</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ಫತೇಪುರ್ ಸಿಕ್ರಿಯಲ್ಲಿ 'ಇಬಾದತ್ ಖಾನಾ' ಸ್ಥಾಪನೆ.</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ದೀನ್-ಎ-ಇಲಾಹಿ (ಎಲ್ಲ ಮತಗಳ ಸಾರ) ಪಂಥದ ಸ್ಥಾಪನೆ.</a:t>
            </a:r>
            <a:endParaRPr b="0" sz="1800">
              <a:solidFill>
                <a:srgbClr val="FFFFFF"/>
              </a:solidFill>
              <a:latin typeface="Roboto"/>
              <a:ea typeface="Roboto"/>
              <a:cs typeface="Roboto"/>
              <a:sym typeface="Roboto"/>
            </a:endParaRPr>
          </a:p>
        </p:txBody>
      </p:sp>
      <p:pic>
        <p:nvPicPr>
          <p:cNvPr descr="A grand historical illustration of the Ibadat Khana at Fatehpur Sikri. The architecture features red sandstone, intricate Mughal carvings, and arched windows. The atmosphere is scholarly and serene, in the style of classical Mughal miniature painting, with a decorative gold border." id="150" name="Google Shape;150;p21"/>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51" name="Google Shape;151;p21"/>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2"/>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157" name="Google Shape;157;p22"/>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22"/>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22"/>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22"/>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ಅಕ್ಬರ್‌ನ ಆಸ್ಥಾನದ ರತ್ನಗಳು</a:t>
            </a:r>
            <a:endParaRPr b="0" sz="3200">
              <a:solidFill>
                <a:srgbClr val="FFD700"/>
              </a:solidFill>
              <a:latin typeface="Roboto ExtraBold"/>
              <a:ea typeface="Roboto ExtraBold"/>
              <a:cs typeface="Roboto ExtraBold"/>
              <a:sym typeface="Roboto ExtraBold"/>
            </a:endParaRPr>
          </a:p>
        </p:txBody>
      </p:sp>
      <p:sp>
        <p:nvSpPr>
          <p:cNvPr id="161" name="Google Shape;161;p22"/>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22"/>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ಗಣ್ಯ ಕವಿಗಳು: ಫೈಜಿ, ಅಬುಲ್ ಫಜಲ್, ಬೀರಬಲ್.</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ಸಂಗೀತಗಾರ: ತಾನ್‌ಸೇನ್.</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ಸಾಹಿತ್ಯ ಮತ್ತು ಕಲೆಗಳಿಗೆ ರಾಜಾಶ್ರಯ.</a:t>
            </a:r>
            <a:endParaRPr b="0" sz="1800">
              <a:solidFill>
                <a:srgbClr val="FFFFFF"/>
              </a:solidFill>
              <a:latin typeface="Roboto"/>
              <a:ea typeface="Roboto"/>
              <a:cs typeface="Roboto"/>
              <a:sym typeface="Roboto"/>
            </a:endParaRPr>
          </a:p>
        </p:txBody>
      </p:sp>
      <p:pic>
        <p:nvPicPr>
          <p:cNvPr descr="A grand historical Mughal miniature painting of Emperor Akbar's court, featuring the Navaratnas (Nine Jewels). The scene includes Tansen with a musical instrument, Birbal, and scholars in a richly decorated royal chamber with Persian carpets and gold architectural accents. Classical, dignified, and colorful." id="163" name="Google Shape;163;p22"/>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64" name="Google Shape;164;p22"/>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3"/>
          <p:cNvPicPr preferRelativeResize="0"/>
          <p:nvPr/>
        </p:nvPicPr>
        <p:blipFill rotWithShape="1">
          <a:blip r:embed="rId3">
            <a:alphaModFix/>
          </a:blip>
          <a:srcRect b="0" l="30" r="20" t="0"/>
          <a:stretch/>
        </p:blipFill>
        <p:spPr>
          <a:xfrm>
            <a:off x="-38100" y="0"/>
            <a:ext cx="9210600" cy="5143500"/>
          </a:xfrm>
          <a:prstGeom prst="rect">
            <a:avLst/>
          </a:prstGeom>
          <a:noFill/>
          <a:ln>
            <a:noFill/>
          </a:ln>
        </p:spPr>
      </p:pic>
      <p:sp>
        <p:nvSpPr>
          <p:cNvPr id="170" name="Google Shape;170;p23"/>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3"/>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3"/>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23"/>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ಮೊಘಲರ ವಾಸ್ತುಶಿಲ್ಪ - ಆರಂಭ</a:t>
            </a:r>
            <a:endParaRPr b="0" sz="3200">
              <a:solidFill>
                <a:srgbClr val="FFD700"/>
              </a:solidFill>
              <a:latin typeface="Roboto ExtraBold"/>
              <a:ea typeface="Roboto ExtraBold"/>
              <a:cs typeface="Roboto ExtraBold"/>
              <a:sym typeface="Roboto ExtraBold"/>
            </a:endParaRPr>
          </a:p>
        </p:txBody>
      </p:sp>
      <p:sp>
        <p:nvSpPr>
          <p:cNvPr id="174" name="Google Shape;174;p23"/>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3"/>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ಹುಮಾಯೂನನ ಸಮಾಧಿ (ದೆಹಲಿ).</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ಫತೇಪುರ್ ಸಿಕ್ರಿ (ನೂತನ ರಾಜಧಾನಿ).</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ಬುಲಂದ್ ದರ್ವಾಜಾ (ಅತ್ಯುನ್ನತ ದ್ವಾರ - 40 ಮೀಟರ್).</a:t>
            </a:r>
            <a:endParaRPr b="0" sz="1800">
              <a:solidFill>
                <a:srgbClr val="FFFFFF"/>
              </a:solidFill>
              <a:latin typeface="Roboto"/>
              <a:ea typeface="Roboto"/>
              <a:cs typeface="Roboto"/>
              <a:sym typeface="Roboto"/>
            </a:endParaRPr>
          </a:p>
        </p:txBody>
      </p:sp>
      <p:pic>
        <p:nvPicPr>
          <p:cNvPr descr="A majestic historical photograph of the Buland Darwaza at Fatehpur Sikri, showcasing its immense height and intricate Mughal architecture with red sandstone and white marble accents under a bright sky, high quality, historical documentary style." id="176" name="Google Shape;176;p23"/>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77" name="Google Shape;177;p23"/>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4"/>
          <p:cNvPicPr preferRelativeResize="0"/>
          <p:nvPr/>
        </p:nvPicPr>
        <p:blipFill rotWithShape="1">
          <a:blip r:embed="rId3">
            <a:alphaModFix/>
          </a:blip>
          <a:srcRect b="0" l="0" r="0" t="0"/>
          <a:stretch/>
        </p:blipFill>
        <p:spPr>
          <a:xfrm>
            <a:off x="-35243" y="0"/>
            <a:ext cx="9215100" cy="5143500"/>
          </a:xfrm>
          <a:prstGeom prst="rect">
            <a:avLst/>
          </a:prstGeom>
          <a:noFill/>
          <a:ln>
            <a:noFill/>
          </a:ln>
        </p:spPr>
      </p:pic>
      <p:sp>
        <p:nvSpPr>
          <p:cNvPr id="183" name="Google Shape;183;p24"/>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24"/>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24"/>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24"/>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ಜಹಾಂಗೀರ್ ಮತ್ತು ಷಹಜಹಾನ್ ಕಾಲ</a:t>
            </a:r>
            <a:endParaRPr b="0" sz="3200">
              <a:solidFill>
                <a:srgbClr val="FFD700"/>
              </a:solidFill>
              <a:latin typeface="Roboto ExtraBold"/>
              <a:ea typeface="Roboto ExtraBold"/>
              <a:cs typeface="Roboto ExtraBold"/>
              <a:sym typeface="Roboto ExtraBold"/>
            </a:endParaRPr>
          </a:p>
        </p:txBody>
      </p:sp>
      <p:sp>
        <p:nvSpPr>
          <p:cNvPr id="187" name="Google Shape;187;p24"/>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24"/>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ಅಕ್ಟರ್‌ನ ನೀತಿಯ ಮುಂದುವರಿಕೆ.</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ಕಲೆ ಮತ್ತು ವಾಸ್ತುಶಿಲ್ಪದ ಸುವರ್ಣಯುಗ.</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ಭವ್ಯ ಅರಮನೆಗಳ ನಿರ್ಮಾಣ.</a:t>
            </a:r>
            <a:endParaRPr b="0" sz="1800">
              <a:solidFill>
                <a:srgbClr val="FFFFFF"/>
              </a:solidFill>
              <a:latin typeface="Roboto"/>
              <a:ea typeface="Roboto"/>
              <a:cs typeface="Roboto"/>
              <a:sym typeface="Roboto"/>
            </a:endParaRPr>
          </a:p>
        </p:txBody>
      </p:sp>
      <p:pic>
        <p:nvPicPr>
          <p:cNvPr descr="A majestic historical portrait of Mughal Emperor Shah Jahan. He is depicted in royal attire with intricate embroidery and jewelry, holding a gemstone or a flower, set against a background of classical Mughal architectural motifs like marble arches and Persian gardens. The style should match a refined, classical miniature painting with a golden hue." id="189" name="Google Shape;189;p24"/>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190" name="Google Shape;190;p24"/>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5"/>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196" name="Google Shape;196;p25"/>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25"/>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5"/>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5"/>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ವಾಸ್ತುಶಿಲ್ಪದ ಅದ್ಭುತಗಳು</a:t>
            </a:r>
            <a:endParaRPr b="0" sz="3200">
              <a:solidFill>
                <a:srgbClr val="FFD700"/>
              </a:solidFill>
              <a:latin typeface="Roboto ExtraBold"/>
              <a:ea typeface="Roboto ExtraBold"/>
              <a:cs typeface="Roboto ExtraBold"/>
              <a:sym typeface="Roboto ExtraBold"/>
            </a:endParaRPr>
          </a:p>
        </p:txBody>
      </p:sp>
      <p:sp>
        <p:nvSpPr>
          <p:cNvPr id="200" name="Google Shape;200;p25"/>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25"/>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ತಾಜ್‌ಮಹಲ್ (ಆಗ್ರಾ) - ಮುಮ್ತಾಜ್ ಮಹಲ್ ಸ್ಮರಣಾರ್ಥ.</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ಕೆಂಪು ಕೋಟೆ (ದೆಹಲಿ).</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ಆಗ್ರಾ ಕೋಟೆ ಮತ್ತು ಮೋತಿ ಮಹಲ್.</a:t>
            </a:r>
            <a:endParaRPr b="0" sz="1800">
              <a:solidFill>
                <a:srgbClr val="FFFFFF"/>
              </a:solidFill>
              <a:latin typeface="Roboto"/>
              <a:ea typeface="Roboto"/>
              <a:cs typeface="Roboto"/>
              <a:sym typeface="Roboto"/>
            </a:endParaRPr>
          </a:p>
        </p:txBody>
      </p:sp>
      <p:grpSp>
        <p:nvGrpSpPr>
          <p:cNvPr id="202" name="Google Shape;202;p25"/>
          <p:cNvGrpSpPr/>
          <p:nvPr/>
        </p:nvGrpSpPr>
        <p:grpSpPr>
          <a:xfrm>
            <a:off x="4572000" y="1238250"/>
            <a:ext cx="4000500" cy="1571700"/>
            <a:chOff x="0" y="0"/>
            <a:chExt cx="4000500" cy="1571700"/>
          </a:xfrm>
        </p:grpSpPr>
        <p:pic>
          <p:nvPicPr>
            <p:cNvPr descr="A majestic, high-resolution photograph of the Taj Mahal in Agra at sunrise, reflecting in the water, showcasing its white marble symmetry and iconic dome." id="203" name="Google Shape;203;p25"/>
            <p:cNvPicPr preferRelativeResize="0"/>
            <p:nvPr/>
          </p:nvPicPr>
          <p:blipFill rotWithShape="1">
            <a:blip r:embed="rId4">
              <a:alphaModFix/>
            </a:blip>
            <a:srcRect b="15079" l="0" r="0" t="15079"/>
            <a:stretch/>
          </p:blipFill>
          <p:spPr>
            <a:xfrm>
              <a:off x="0" y="0"/>
              <a:ext cx="4000500" cy="1571700"/>
            </a:xfrm>
            <a:prstGeom prst="roundRect">
              <a:avLst>
                <a:gd fmla="val 4848" name="adj"/>
              </a:avLst>
            </a:prstGeom>
            <a:noFill/>
            <a:ln>
              <a:noFill/>
            </a:ln>
          </p:spPr>
        </p:pic>
        <p:sp>
          <p:nvSpPr>
            <p:cNvPr id="204" name="Google Shape;204;p25"/>
            <p:cNvSpPr/>
            <p:nvPr/>
          </p:nvSpPr>
          <p:spPr>
            <a:xfrm>
              <a:off x="0" y="0"/>
              <a:ext cx="4000500" cy="1571700"/>
            </a:xfrm>
            <a:prstGeom prst="roundRect">
              <a:avLst>
                <a:gd fmla="val 4848"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05" name="Google Shape;205;p25"/>
          <p:cNvGrpSpPr/>
          <p:nvPr/>
        </p:nvGrpSpPr>
        <p:grpSpPr>
          <a:xfrm>
            <a:off x="4572000" y="2905125"/>
            <a:ext cx="4000500" cy="1571700"/>
            <a:chOff x="0" y="0"/>
            <a:chExt cx="4000500" cy="1571700"/>
          </a:xfrm>
        </p:grpSpPr>
        <p:pic>
          <p:nvPicPr>
            <p:cNvPr descr="A clear, wide-angle shot of the Red Fort (Lal Qila) in Delhi, highlighting its massive red sandstone walls and Mughal architectural details under a blue sky." id="206" name="Google Shape;206;p25"/>
            <p:cNvPicPr preferRelativeResize="0"/>
            <p:nvPr/>
          </p:nvPicPr>
          <p:blipFill rotWithShape="1">
            <a:blip r:embed="rId5">
              <a:alphaModFix/>
            </a:blip>
            <a:srcRect b="15079" l="0" r="0" t="15079"/>
            <a:stretch/>
          </p:blipFill>
          <p:spPr>
            <a:xfrm>
              <a:off x="0" y="0"/>
              <a:ext cx="4000500" cy="1571700"/>
            </a:xfrm>
            <a:prstGeom prst="roundRect">
              <a:avLst>
                <a:gd fmla="val 4848" name="adj"/>
              </a:avLst>
            </a:prstGeom>
            <a:noFill/>
            <a:ln>
              <a:noFill/>
            </a:ln>
          </p:spPr>
        </p:pic>
        <p:sp>
          <p:nvSpPr>
            <p:cNvPr id="207" name="Google Shape;207;p25"/>
            <p:cNvSpPr/>
            <p:nvPr/>
          </p:nvSpPr>
          <p:spPr>
            <a:xfrm>
              <a:off x="0" y="0"/>
              <a:ext cx="4000500" cy="1571700"/>
            </a:xfrm>
            <a:prstGeom prst="roundRect">
              <a:avLst>
                <a:gd fmla="val 4848"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26"/>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13" name="Google Shape;213;p26"/>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6"/>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6"/>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26"/>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ಔರಂಗಜೇಬ್ - ಕೊನೆಯ ಸಾಮ್ರಾಟ</a:t>
            </a:r>
            <a:endParaRPr b="0" sz="3200">
              <a:solidFill>
                <a:srgbClr val="FFD700"/>
              </a:solidFill>
              <a:latin typeface="Roboto ExtraBold"/>
              <a:ea typeface="Roboto ExtraBold"/>
              <a:cs typeface="Roboto ExtraBold"/>
              <a:sym typeface="Roboto ExtraBold"/>
            </a:endParaRPr>
          </a:p>
        </p:txBody>
      </p:sp>
      <p:sp>
        <p:nvSpPr>
          <p:cNvPr id="217" name="Google Shape;217;p26"/>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6"/>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50 ವರ್ಷಗಳ ಸುದೀರ್ಘ ಆಳ್ವಿಕೆ.</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ಸಂಪ್ರದಾಯವಾದಿ ಮುಸಲ್ಮಾನ.</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ಮದ್ಯಪಾನ, ಜೂಜು, ಸಂಗೀತಕ್ಕೆ ವಿರೋಧ.</a:t>
            </a:r>
            <a:endParaRPr b="0" sz="1800">
              <a:solidFill>
                <a:srgbClr val="FFFFFF"/>
              </a:solidFill>
              <a:latin typeface="Roboto"/>
              <a:ea typeface="Roboto"/>
              <a:cs typeface="Roboto"/>
              <a:sym typeface="Roboto"/>
            </a:endParaRPr>
          </a:p>
        </p:txBody>
      </p:sp>
      <p:pic>
        <p:nvPicPr>
          <p:cNvPr descr="A regal historical portrait of Mughal Emperor Aurangzeb. He is shown with a serious and pious expression, often depicted with a white beard, wearing a traditional Mughal turban and understated but noble attire. The background features subtle Islamic patterns and dark, somber tones reflecting his conservative nature. Classical Mughal miniature style." id="219" name="Google Shape;219;p26"/>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20" name="Google Shape;220;p26"/>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27"/>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26" name="Google Shape;226;p27"/>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7"/>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7"/>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7"/>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ಔರಂಗಜೇಬನ ಧಾರ್ಮಿಕ ನೀತಿ</a:t>
            </a:r>
            <a:endParaRPr b="0" sz="3200">
              <a:solidFill>
                <a:srgbClr val="FFD700"/>
              </a:solidFill>
              <a:latin typeface="Roboto ExtraBold"/>
              <a:ea typeface="Roboto ExtraBold"/>
              <a:cs typeface="Roboto ExtraBold"/>
              <a:sym typeface="Roboto ExtraBold"/>
            </a:endParaRPr>
          </a:p>
        </p:txBody>
      </p:sp>
      <p:sp>
        <p:nvSpPr>
          <p:cNvPr id="230" name="Google Shape;230;p27"/>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7"/>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ಅಕ್ಟರ್‌ನ ಉದಾರನೀತಿ ತಿರಸ್ಕಾರ.</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ಜೆಸಿಯಾ ತೆರಿಗೆ ಪುನಃ ಹೇರಿಕೆ.</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ಹಿಂದೂ ಜಾತ್ರೆ, ಬೋಧನೆ ಮತ್ತು ಮಂದಿರಗಳ ಮೇಲೆ ನಿರ್ಬಂಧ/ನಾಶ.</a:t>
            </a:r>
            <a:endParaRPr b="0" sz="1800">
              <a:solidFill>
                <a:srgbClr val="FFFFFF"/>
              </a:solidFill>
              <a:latin typeface="Roboto"/>
              <a:ea typeface="Roboto"/>
              <a:cs typeface="Roboto"/>
              <a:sym typeface="Roboto"/>
            </a:endParaRPr>
          </a:p>
        </p:txBody>
      </p:sp>
      <p:pic>
        <p:nvPicPr>
          <p:cNvPr descr="A historical illustration style depicting the imposition of Jizya tax or a symbolic representation of Aurangzeb's strict religious decrees. The artwork should have a parchment or miniature painting texture with muted, serious tones, showing a scroll or a formal court setting with conservative Mughal motifs to match the existing deck's style." id="232" name="Google Shape;232;p27"/>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33" name="Google Shape;233;p27"/>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28"/>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39" name="Google Shape;239;p28"/>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8"/>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8"/>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28"/>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ಸಿಖ್ ಸಮುದಾಯದ ಸಂಘರ್ಷ</a:t>
            </a:r>
            <a:endParaRPr b="0" sz="3200">
              <a:solidFill>
                <a:srgbClr val="FFD700"/>
              </a:solidFill>
              <a:latin typeface="Roboto ExtraBold"/>
              <a:ea typeface="Roboto ExtraBold"/>
              <a:cs typeface="Roboto ExtraBold"/>
              <a:sym typeface="Roboto ExtraBold"/>
            </a:endParaRPr>
          </a:p>
        </p:txBody>
      </p:sp>
      <p:sp>
        <p:nvSpPr>
          <p:cNvPr id="243" name="Google Shape;243;p28"/>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8"/>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ಗುರು ತೇಜ್ ಬಹಾದೂರ್ ಬಲಿ.</a:t>
            </a:r>
            <a:endParaRPr b="0" sz="1800">
              <a:solidFill>
                <a:srgbClr val="FFFFFF"/>
              </a:solidFill>
              <a:latin typeface="Roboto"/>
              <a:ea typeface="Roboto"/>
              <a:cs typeface="Roboto"/>
              <a:sym typeface="Roboto"/>
            </a:endParaRPr>
          </a:p>
          <a:p>
            <a:pPr indent="-342900" lvl="0" marL="457200" rtl="0" algn="l">
              <a:spcBef>
                <a:spcPts val="1125"/>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ಗುರು ಗೋವಿಂದಸಿಂಹರಿಂದ ವೀರದೀಕ್ಷೆ.</a:t>
            </a:r>
            <a:endParaRPr b="0" sz="1800">
              <a:solidFill>
                <a:srgbClr val="FFFFFF"/>
              </a:solidFill>
              <a:latin typeface="Roboto"/>
              <a:ea typeface="Roboto"/>
              <a:cs typeface="Roboto"/>
              <a:sym typeface="Roboto"/>
            </a:endParaRPr>
          </a:p>
          <a:p>
            <a:pPr indent="-342900" lvl="0" marL="457200" rtl="0" algn="l">
              <a:spcBef>
                <a:spcPts val="1125"/>
              </a:spcBef>
              <a:spcAft>
                <a:spcPts val="1125"/>
              </a:spcAft>
              <a:buClr>
                <a:srgbClr val="FFFFFF"/>
              </a:buClr>
              <a:buSzPts val="1800"/>
              <a:buFont typeface="Roboto"/>
              <a:buChar char="●"/>
            </a:pPr>
            <a:r>
              <a:rPr b="0" lang="en" sz="1800">
                <a:solidFill>
                  <a:srgbClr val="FFFFFF"/>
                </a:solidFill>
                <a:latin typeface="Roboto"/>
                <a:ea typeface="Roboto"/>
                <a:cs typeface="Roboto"/>
                <a:sym typeface="Roboto"/>
              </a:rPr>
              <a:t>ಪಂಚ 'ಕ'ಕಾರಗಳ (ಕೇಶ, ಕಂಗಾ, ಕೃಪಾಣ, ಕಚ್ಚೆ, ಕಂಕಣ) ಮಹತ್ವ.</a:t>
            </a:r>
            <a:endParaRPr b="0" sz="1800">
              <a:solidFill>
                <a:srgbClr val="FFFFFF"/>
              </a:solidFill>
              <a:latin typeface="Roboto"/>
              <a:ea typeface="Roboto"/>
              <a:cs typeface="Roboto"/>
              <a:sym typeface="Roboto"/>
            </a:endParaRPr>
          </a:p>
        </p:txBody>
      </p:sp>
      <p:pic>
        <p:nvPicPr>
          <p:cNvPr descr="A majestic historical portrait of Guru Gobind Singh Ji, the tenth Sikh Guru, depicted with a warrior's spirit. He is wearing a grand turban and royal Sikh attire, holding a falcon. The background should have subtle hints of the Golden Temple or classical Sikh motifs in warm, golden tones to match the Mughal era slide style." id="245" name="Google Shape;245;p28"/>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46" name="Google Shape;246;p28"/>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29"/>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52" name="Google Shape;252;p29"/>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9"/>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9"/>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9"/>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ಮೊಘಲರ ಆಡಳಿತ ವ್ಯವಸ್ಥೆ</a:t>
            </a:r>
            <a:endParaRPr b="0" sz="3200">
              <a:solidFill>
                <a:srgbClr val="FFD700"/>
              </a:solidFill>
              <a:latin typeface="Roboto ExtraBold"/>
              <a:ea typeface="Roboto ExtraBold"/>
              <a:cs typeface="Roboto ExtraBold"/>
              <a:sym typeface="Roboto ExtraBold"/>
            </a:endParaRPr>
          </a:p>
        </p:txBody>
      </p:sp>
      <p:sp>
        <p:nvSpPr>
          <p:cNvPr id="256" name="Google Shape;256;p29"/>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9"/>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ಚಕ್ರವರ್ತಿಯೇ ಸರ್ವಾಧಿಕಾರಿ.</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ವಿಭಜನೆ: ಸುಬಾ (ಪ್ರಾಂತ), ಸರ್ಕಾರ (ಜಿಲ್ಲೆ), ಪರಗಣ (ತಾಲ್ಲೂಕು).</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ಕೊತ್ವಾಲ್: ನಗರದ ಕಾನೂನು ಮತ್ತು ಸುವ್ಯವಸ್ಥೆಯ ರಕ್ಷಕ.</a:t>
            </a:r>
            <a:endParaRPr b="0" sz="1800">
              <a:solidFill>
                <a:srgbClr val="FFFFFF"/>
              </a:solidFill>
              <a:latin typeface="Roboto"/>
              <a:ea typeface="Roboto"/>
              <a:cs typeface="Roboto"/>
              <a:sym typeface="Roboto"/>
            </a:endParaRPr>
          </a:p>
        </p:txBody>
      </p:sp>
      <p:pic>
        <p:nvPicPr>
          <p:cNvPr descr="A majestic historical illustration of a Mughal royal court (Darbar). The Emperor is seated on a golden throne under a canopy, surrounded by ministers and officials in traditional attire. The scene reflects a highly structured and grand administrative system. Miniature painting style with rich golden and earthy tones, consistent with 17th-century Mughal art." id="258" name="Google Shape;258;p29"/>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59" name="Google Shape;259;p29"/>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0"/>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65" name="Google Shape;265;p30"/>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30"/>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30"/>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30"/>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ಸಾಹಿತ್ಯ ಮತ್ತು ಕಲಾಪೋಷಣೆ</a:t>
            </a:r>
            <a:endParaRPr b="0" sz="3200">
              <a:solidFill>
                <a:srgbClr val="FFD700"/>
              </a:solidFill>
              <a:latin typeface="Roboto ExtraBold"/>
              <a:ea typeface="Roboto ExtraBold"/>
              <a:cs typeface="Roboto ExtraBold"/>
              <a:sym typeface="Roboto ExtraBold"/>
            </a:endParaRPr>
          </a:p>
        </p:txBody>
      </p:sp>
      <p:sp>
        <p:nvSpPr>
          <p:cNvPr id="269" name="Google Shape;269;p30"/>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30"/>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ಪರ್ಷಿಯನ್ ಸಾಹಿತ್ಯಕ್ಕೆ ವಿಶೇಷ ಒತ್ತು.</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ಅಬುಲ್ ಫಜಲ್‌ನ 'ಅಕ್ಟರ್‌ನಾಮಾ'.</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ದಾರಾಷುಕೋ (ಭಗವದ್ಗೀತೆಯ ಭಾಷಾಂತರ).</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ತುಳಸೀದಾಸರ 'ರಾಮಚರಿತಮಾನಸ'.</a:t>
            </a:r>
            <a:endParaRPr b="0" sz="1800">
              <a:solidFill>
                <a:srgbClr val="FFFFFF"/>
              </a:solidFill>
              <a:latin typeface="Roboto"/>
              <a:ea typeface="Roboto"/>
              <a:cs typeface="Roboto"/>
              <a:sym typeface="Roboto"/>
            </a:endParaRPr>
          </a:p>
        </p:txBody>
      </p:sp>
      <p:pic>
        <p:nvPicPr>
          <p:cNvPr descr="A high-quality historical photograph or artistic representation of ancient Persian and Sanskrit manuscripts on aged parchment or palm leaves. The scene should include calligraphy tools like quills and ink pots, reflecting the scholarly atmosphere of the Mughal era. Rich, warm lighting with golden and brown tones to match the presentation style." id="271" name="Google Shape;271;p30"/>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72" name="Google Shape;272;p30"/>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1"/>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78" name="Google Shape;278;p31"/>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31"/>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31"/>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31"/>
          <p:cNvSpPr txBox="1"/>
          <p:nvPr/>
        </p:nvSpPr>
        <p:spPr>
          <a:xfrm>
            <a:off x="571500" y="3810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ಚಿತ್ರಕಲೆ ಮತ್ತು ಸಂಗೀತ</a:t>
            </a:r>
            <a:endParaRPr b="0" sz="3200">
              <a:solidFill>
                <a:srgbClr val="FFD700"/>
              </a:solidFill>
              <a:latin typeface="Roboto ExtraBold"/>
              <a:ea typeface="Roboto ExtraBold"/>
              <a:cs typeface="Roboto ExtraBold"/>
              <a:sym typeface="Roboto ExtraBold"/>
            </a:endParaRPr>
          </a:p>
        </p:txBody>
      </p:sp>
      <p:sp>
        <p:nvSpPr>
          <p:cNvPr id="282" name="Google Shape;282;p31"/>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31"/>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ಚಿತ್ರಕಲೆ: 'ಚಿಕಿಣಿ' ಸಂಪ್ರದಾಯ.</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ಸಂಗೀತ: ತಾನ್‌ಸೇನ್ ಶ್ರೇಷ್ಠ ಗಾಯಕ.</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ಔರಂಗಜೇಬ್ ಸಂಗೀತವನ್ನು ನಿಷೇಧಿಸಿದರೂ, ಜನಮಾನಸದಲ್ಲಿ ಉಳಿಯಿತು.</a:t>
            </a:r>
            <a:endParaRPr b="0" sz="1800">
              <a:solidFill>
                <a:srgbClr val="FFFFFF"/>
              </a:solidFill>
              <a:latin typeface="Roboto"/>
              <a:ea typeface="Roboto"/>
              <a:cs typeface="Roboto"/>
              <a:sym typeface="Roboto"/>
            </a:endParaRPr>
          </a:p>
        </p:txBody>
      </p:sp>
      <p:pic>
        <p:nvPicPr>
          <p:cNvPr descr="A high-quality historical miniature painting depicting a grand Mughal music concert. Tansen, the legendary singer, is performing in a royal court setting with traditional instruments like the Veena and Pakhavaj. The style should be intricate 17th-century Mughal art with rich gold, deep reds, and earthy tones, matching the surrounding slide aesthetic." id="284" name="Google Shape;284;p31"/>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85" name="Google Shape;285;p31"/>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32"/>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291" name="Google Shape;291;p32"/>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32"/>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32"/>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32"/>
          <p:cNvSpPr txBox="1"/>
          <p:nvPr/>
        </p:nvSpPr>
        <p:spPr>
          <a:xfrm>
            <a:off x="571500" y="381000"/>
            <a:ext cx="8001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ಮೊಘಲ್ ಸಾಮ್ರಾಜ್ಯದ ಅವನತಿ</a:t>
            </a:r>
            <a:endParaRPr b="0" sz="3200">
              <a:solidFill>
                <a:srgbClr val="FFD700"/>
              </a:solidFill>
              <a:latin typeface="Roboto ExtraBold"/>
              <a:ea typeface="Roboto ExtraBold"/>
              <a:cs typeface="Roboto ExtraBold"/>
              <a:sym typeface="Roboto ExtraBold"/>
            </a:endParaRPr>
          </a:p>
        </p:txBody>
      </p:sp>
      <p:sp>
        <p:nvSpPr>
          <p:cNvPr id="295" name="Google Shape;295;p32"/>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32"/>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ಅಂತಃಕಲಹ ಮತ್ತು ಭ್ರಷ್ಟಾಚಾರ.</a:t>
            </a:r>
            <a:endParaRPr b="0" sz="1800">
              <a:solidFill>
                <a:srgbClr val="FFFFFF"/>
              </a:solidFill>
              <a:latin typeface="Roboto"/>
              <a:ea typeface="Roboto"/>
              <a:cs typeface="Roboto"/>
              <a:sym typeface="Roboto"/>
            </a:endParaRPr>
          </a:p>
          <a:p>
            <a:pPr indent="-342900" lvl="0" marL="457200" rtl="0" algn="l">
              <a:spcBef>
                <a:spcPts val="1125"/>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ಪ್ರಾಂತಾಧಿಕಾರಿಗಳ ಸ್ವಾತಂತ್ರ್ಯ ಘೋಷಣೆ.</a:t>
            </a:r>
            <a:endParaRPr b="0" sz="1800">
              <a:solidFill>
                <a:srgbClr val="FFFFFF"/>
              </a:solidFill>
              <a:latin typeface="Roboto"/>
              <a:ea typeface="Roboto"/>
              <a:cs typeface="Roboto"/>
              <a:sym typeface="Roboto"/>
            </a:endParaRPr>
          </a:p>
          <a:p>
            <a:pPr indent="-342900" lvl="0" marL="457200" rtl="0" algn="l">
              <a:spcBef>
                <a:spcPts val="1125"/>
              </a:spcBef>
              <a:spcAft>
                <a:spcPts val="1125"/>
              </a:spcAft>
              <a:buClr>
                <a:srgbClr val="FFFFFF"/>
              </a:buClr>
              <a:buSzPts val="1800"/>
              <a:buFont typeface="Roboto"/>
              <a:buChar char="●"/>
            </a:pPr>
            <a:r>
              <a:rPr b="0" lang="en" sz="1800">
                <a:solidFill>
                  <a:srgbClr val="FFFFFF"/>
                </a:solidFill>
                <a:latin typeface="Roboto"/>
                <a:ea typeface="Roboto"/>
                <a:cs typeface="Roboto"/>
                <a:sym typeface="Roboto"/>
              </a:rPr>
              <a:t>ಧಾರ್ಮಿಕ ಅಸಹಿಷ್ಣುತೆ ಮತ್ತು ದೀರ್ಘಕಾಲದ ಸಂಘರ್ಷ (ಸಿಬ್ಬರು, ಮರಾಠರು, ರಜಪೂತರು).</a:t>
            </a:r>
            <a:endParaRPr b="0" sz="1800">
              <a:solidFill>
                <a:srgbClr val="FFFFFF"/>
              </a:solidFill>
              <a:latin typeface="Roboto"/>
              <a:ea typeface="Roboto"/>
              <a:cs typeface="Roboto"/>
              <a:sym typeface="Roboto"/>
            </a:endParaRPr>
          </a:p>
        </p:txBody>
      </p:sp>
      <p:pic>
        <p:nvPicPr>
          <p:cNvPr descr="A dramatic historical illustration depicting the decline of the Mughal Empire. A weathered and crumbling sandstone palace archway overlooking a desolate landscape at sunset. The scene should evoke a sense of faded grandeur and the end of an era, with deep orange, gold, and dusty brown tones. High-quality artistic style consistent with historical miniatures but more somber." id="297" name="Google Shape;297;p32"/>
          <p:cNvPicPr preferRelativeResize="0"/>
          <p:nvPr/>
        </p:nvPicPr>
        <p:blipFill rotWithShape="1">
          <a:blip r:embed="rId4">
            <a:alphaModFix/>
          </a:blip>
          <a:srcRect b="0" l="3678" r="3678" t="0"/>
          <a:stretch/>
        </p:blipFill>
        <p:spPr>
          <a:xfrm>
            <a:off x="4572000" y="1238250"/>
            <a:ext cx="4000500" cy="3238500"/>
          </a:xfrm>
          <a:prstGeom prst="roundRect">
            <a:avLst>
              <a:gd fmla="val 2352" name="adj"/>
            </a:avLst>
          </a:prstGeom>
          <a:noFill/>
          <a:ln>
            <a:noFill/>
          </a:ln>
        </p:spPr>
      </p:pic>
      <p:sp>
        <p:nvSpPr>
          <p:cNvPr id="298" name="Google Shape;298;p32"/>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33"/>
          <p:cNvPicPr preferRelativeResize="0"/>
          <p:nvPr/>
        </p:nvPicPr>
        <p:blipFill rotWithShape="1">
          <a:blip r:embed="rId3">
            <a:alphaModFix/>
          </a:blip>
          <a:srcRect b="0" l="0" r="0" t="0"/>
          <a:stretch/>
        </p:blipFill>
        <p:spPr>
          <a:xfrm>
            <a:off x="-35243" y="0"/>
            <a:ext cx="9215400" cy="5143500"/>
          </a:xfrm>
          <a:prstGeom prst="rect">
            <a:avLst/>
          </a:prstGeom>
          <a:noFill/>
          <a:ln>
            <a:noFill/>
          </a:ln>
        </p:spPr>
      </p:pic>
      <p:sp>
        <p:nvSpPr>
          <p:cNvPr id="304" name="Google Shape;304;p33"/>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33"/>
          <p:cNvSpPr/>
          <p:nvPr/>
        </p:nvSpPr>
        <p:spPr>
          <a:xfrm>
            <a:off x="8572500" y="0"/>
            <a:ext cx="571500" cy="5715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33"/>
          <p:cNvSpPr/>
          <p:nvPr/>
        </p:nvSpPr>
        <p:spPr>
          <a:xfrm>
            <a:off x="0" y="4572000"/>
            <a:ext cx="571500" cy="5715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33"/>
          <p:cNvSpPr txBox="1"/>
          <p:nvPr/>
        </p:nvSpPr>
        <p:spPr>
          <a:xfrm>
            <a:off x="571500" y="381000"/>
            <a:ext cx="8001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200">
                <a:solidFill>
                  <a:srgbClr val="FFD700"/>
                </a:solidFill>
                <a:latin typeface="Roboto ExtraBold"/>
                <a:ea typeface="Roboto ExtraBold"/>
                <a:cs typeface="Roboto ExtraBold"/>
                <a:sym typeface="Roboto ExtraBold"/>
              </a:rPr>
              <a:t>ಅಂತಿಮ ಪತನ ಮತ್ತು ನಾದಿರ್‌ಷಾ</a:t>
            </a:r>
            <a:endParaRPr b="0" sz="3200">
              <a:solidFill>
                <a:srgbClr val="FFD700"/>
              </a:solidFill>
              <a:latin typeface="Roboto ExtraBold"/>
              <a:ea typeface="Roboto ExtraBold"/>
              <a:cs typeface="Roboto ExtraBold"/>
              <a:sym typeface="Roboto ExtraBold"/>
            </a:endParaRPr>
          </a:p>
        </p:txBody>
      </p:sp>
      <p:sp>
        <p:nvSpPr>
          <p:cNvPr id="308" name="Google Shape;308;p33"/>
          <p:cNvSpPr/>
          <p:nvPr/>
        </p:nvSpPr>
        <p:spPr>
          <a:xfrm>
            <a:off x="571500" y="1238250"/>
            <a:ext cx="3810000" cy="3238500"/>
          </a:xfrm>
          <a:prstGeom prst="roundRect">
            <a:avLst>
              <a:gd fmla="val 2352" name="adj"/>
            </a:avLst>
          </a:prstGeom>
          <a:solidFill>
            <a:srgbClr val="000000">
              <a:alpha val="60000"/>
            </a:srgbClr>
          </a:solidFill>
          <a:ln cap="flat" cmpd="sng" w="9525">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33"/>
          <p:cNvSpPr txBox="1"/>
          <p:nvPr/>
        </p:nvSpPr>
        <p:spPr>
          <a:xfrm>
            <a:off x="762000" y="1476375"/>
            <a:ext cx="3429000" cy="27624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ನಾದಿರ್‌ಷಾನ ದಾಳಿ (ಪರ್ಷಿಯಾ ದಾಳಿಕೋರ).</a:t>
            </a:r>
            <a:endParaRPr b="0" sz="1800">
              <a:solidFill>
                <a:srgbClr val="FFFFFF"/>
              </a:solidFill>
              <a:latin typeface="Roboto"/>
              <a:ea typeface="Roboto"/>
              <a:cs typeface="Roboto"/>
              <a:sym typeface="Roboto"/>
            </a:endParaRPr>
          </a:p>
          <a:p>
            <a:pPr indent="-342900" lvl="0" marL="457200" rtl="0" algn="l">
              <a:spcBef>
                <a:spcPts val="1200"/>
              </a:spcBef>
              <a:spcAft>
                <a:spcPts val="0"/>
              </a:spcAft>
              <a:buClr>
                <a:srgbClr val="FFFFFF"/>
              </a:buClr>
              <a:buSzPts val="1800"/>
              <a:buFont typeface="Roboto"/>
              <a:buChar char="●"/>
            </a:pPr>
            <a:r>
              <a:rPr b="0" lang="en" sz="1800">
                <a:solidFill>
                  <a:srgbClr val="FFFFFF"/>
                </a:solidFill>
                <a:latin typeface="Roboto"/>
                <a:ea typeface="Roboto"/>
                <a:cs typeface="Roboto"/>
                <a:sym typeface="Roboto"/>
              </a:rPr>
              <a:t>ಕೊಹಿನೂರ್ ವಜ್ರ, ಮಯೂರ ಸಿಂಹಾಸನದ ಲೂಟಿ.</a:t>
            </a:r>
            <a:endParaRPr b="0" sz="1800">
              <a:solidFill>
                <a:srgbClr val="FFFFFF"/>
              </a:solidFill>
              <a:latin typeface="Roboto"/>
              <a:ea typeface="Roboto"/>
              <a:cs typeface="Roboto"/>
              <a:sym typeface="Roboto"/>
            </a:endParaRPr>
          </a:p>
          <a:p>
            <a:pPr indent="-342900" lvl="0" marL="457200" rtl="0" algn="l">
              <a:spcBef>
                <a:spcPts val="1200"/>
              </a:spcBef>
              <a:spcAft>
                <a:spcPts val="1200"/>
              </a:spcAft>
              <a:buClr>
                <a:srgbClr val="FFFFFF"/>
              </a:buClr>
              <a:buSzPts val="1800"/>
              <a:buFont typeface="Roboto"/>
              <a:buChar char="●"/>
            </a:pPr>
            <a:r>
              <a:rPr b="0" lang="en" sz="1800">
                <a:solidFill>
                  <a:srgbClr val="FFFFFF"/>
                </a:solidFill>
                <a:latin typeface="Roboto"/>
                <a:ea typeface="Roboto"/>
                <a:cs typeface="Roboto"/>
                <a:sym typeface="Roboto"/>
              </a:rPr>
              <a:t>ಬರಿದಾದ ಖಜಾನೆ ಮತ್ತು ಸಾಮ್ರಾಜ್ಯದ ಪತನ.</a:t>
            </a:r>
            <a:endParaRPr b="0" sz="1800">
              <a:solidFill>
                <a:srgbClr val="FFFFFF"/>
              </a:solidFill>
              <a:latin typeface="Roboto"/>
              <a:ea typeface="Roboto"/>
              <a:cs typeface="Roboto"/>
              <a:sym typeface="Roboto"/>
            </a:endParaRPr>
          </a:p>
        </p:txBody>
      </p:sp>
      <p:pic>
        <p:nvPicPr>
          <p:cNvPr descr="A high-quality historical artistic depiction of the legendary Peacock Throne (Mayura Simhasana) of the Mughal Empire, encrusted with brilliant jewels, or the Kohinoor diamond set in a royal ornament. The style should be intricate 17th-century Mughal miniature art with rich gold and jewel tones, maintaining the somber yet majestic atmosphere of the empire's final days." id="310" name="Google Shape;310;p33"/>
          <p:cNvPicPr preferRelativeResize="0"/>
          <p:nvPr/>
        </p:nvPicPr>
        <p:blipFill rotWithShape="1">
          <a:blip r:embed="rId4">
            <a:alphaModFix/>
          </a:blip>
          <a:srcRect b="0" l="3678" r="3678" t="0"/>
          <a:stretch/>
        </p:blipFill>
        <p:spPr>
          <a:xfrm>
            <a:off x="4572000" y="1238250"/>
            <a:ext cx="4000500" cy="3238500"/>
          </a:xfrm>
          <a:prstGeom prst="rect">
            <a:avLst/>
          </a:prstGeom>
          <a:noFill/>
          <a:ln>
            <a:noFill/>
          </a:ln>
        </p:spPr>
      </p:pic>
      <p:sp>
        <p:nvSpPr>
          <p:cNvPr id="311" name="Google Shape;311;p33"/>
          <p:cNvSpPr/>
          <p:nvPr/>
        </p:nvSpPr>
        <p:spPr>
          <a:xfrm>
            <a:off x="4572000" y="1238250"/>
            <a:ext cx="4000500" cy="3238500"/>
          </a:xfrm>
          <a:prstGeom prst="roundRect">
            <a:avLst>
              <a:gd fmla="val 2352" name="adj"/>
            </a:avLst>
          </a:prstGeom>
          <a:solidFill>
            <a:srgbClr val="000000">
              <a:alpha val="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5" name="Shape 315"/>
        <p:cNvGrpSpPr/>
        <p:nvPr/>
      </p:nvGrpSpPr>
      <p:grpSpPr>
        <a:xfrm>
          <a:off x="0" y="0"/>
          <a:ext cx="0" cy="0"/>
          <a:chOff x="0" y="0"/>
          <a:chExt cx="0" cy="0"/>
        </a:xfrm>
      </p:grpSpPr>
      <p:sp>
        <p:nvSpPr>
          <p:cNvPr id="316" name="Google Shape;316;p34"/>
          <p:cNvSpPr/>
          <p:nvPr/>
        </p:nvSpPr>
        <p:spPr>
          <a:xfrm>
            <a:off x="0" y="0"/>
            <a:ext cx="9144000" cy="5143500"/>
          </a:xfrm>
          <a:prstGeom prst="rect">
            <a:avLst/>
          </a:prstGeom>
          <a:solidFill>
            <a:srgbClr val="000000">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34"/>
          <p:cNvSpPr/>
          <p:nvPr/>
        </p:nvSpPr>
        <p:spPr>
          <a:xfrm>
            <a:off x="8382000" y="0"/>
            <a:ext cx="762000" cy="762000"/>
          </a:xfrm>
          <a:custGeom>
            <a:rect b="b" l="l" r="r" t="t"/>
            <a:pathLst>
              <a:path extrusionOk="0" h="120000" w="120000">
                <a:moveTo>
                  <a:pt x="0" y="0"/>
                </a:moveTo>
                <a:lnTo>
                  <a:pt x="120000" y="0"/>
                </a:lnTo>
                <a:lnTo>
                  <a:pt x="12000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34"/>
          <p:cNvSpPr/>
          <p:nvPr/>
        </p:nvSpPr>
        <p:spPr>
          <a:xfrm>
            <a:off x="0" y="4381500"/>
            <a:ext cx="762000" cy="762000"/>
          </a:xfrm>
          <a:custGeom>
            <a:rect b="b" l="l" r="r" t="t"/>
            <a:pathLst>
              <a:path extrusionOk="0" h="120000" w="120000">
                <a:moveTo>
                  <a:pt x="0" y="0"/>
                </a:moveTo>
                <a:lnTo>
                  <a:pt x="120000" y="120000"/>
                </a:lnTo>
                <a:lnTo>
                  <a:pt x="0" y="120000"/>
                </a:lnTo>
                <a:close/>
              </a:path>
            </a:pathLst>
          </a:custGeom>
          <a:solidFill>
            <a:srgbClr val="FFD7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34"/>
          <p:cNvSpPr txBox="1"/>
          <p:nvPr/>
        </p:nvSpPr>
        <p:spPr>
          <a:xfrm>
            <a:off x="571500" y="571500"/>
            <a:ext cx="8001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4200">
                <a:solidFill>
                  <a:srgbClr val="FFD700"/>
                </a:solidFill>
                <a:latin typeface="Roboto ExtraBold"/>
                <a:ea typeface="Roboto ExtraBold"/>
                <a:cs typeface="Roboto ExtraBold"/>
                <a:sym typeface="Roboto ExtraBold"/>
              </a:rPr>
              <a:t>ಧನ್ಯವಾದಗಳು</a:t>
            </a:r>
            <a:endParaRPr b="0" sz="4200">
              <a:solidFill>
                <a:srgbClr val="FFD700"/>
              </a:solidFill>
              <a:latin typeface="Roboto ExtraBold"/>
              <a:ea typeface="Roboto ExtraBold"/>
              <a:cs typeface="Roboto ExtraBold"/>
              <a:sym typeface="Roboto ExtraBold"/>
            </a:endParaRPr>
          </a:p>
        </p:txBody>
      </p:sp>
      <p:grpSp>
        <p:nvGrpSpPr>
          <p:cNvPr id="320" name="Google Shape;320;p34"/>
          <p:cNvGrpSpPr/>
          <p:nvPr/>
        </p:nvGrpSpPr>
        <p:grpSpPr>
          <a:xfrm>
            <a:off x="571500" y="1905000"/>
            <a:ext cx="8001000" cy="2667000"/>
            <a:chOff x="0" y="0"/>
            <a:chExt cx="8001000" cy="2667000"/>
          </a:xfrm>
        </p:grpSpPr>
        <p:sp>
          <p:nvSpPr>
            <p:cNvPr id="321" name="Google Shape;321;p34"/>
            <p:cNvSpPr/>
            <p:nvPr/>
          </p:nvSpPr>
          <p:spPr>
            <a:xfrm>
              <a:off x="0" y="0"/>
              <a:ext cx="8001000" cy="2667000"/>
            </a:xfrm>
            <a:prstGeom prst="roundRect">
              <a:avLst>
                <a:gd fmla="val 5357" name="adj"/>
              </a:avLst>
            </a:prstGeom>
            <a:solidFill>
              <a:srgbClr val="000000">
                <a:alpha val="70000"/>
              </a:srgbClr>
            </a:solidFill>
            <a:ln cap="flat" cmpd="sng" w="19050">
              <a:solidFill>
                <a:srgbClr val="FFD7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34"/>
            <p:cNvSpPr txBox="1"/>
            <p:nvPr/>
          </p:nvSpPr>
          <p:spPr>
            <a:xfrm>
              <a:off x="381000" y="381000"/>
              <a:ext cx="7239000" cy="1905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000">
                  <a:solidFill>
                    <a:srgbClr val="FFD700"/>
                  </a:solidFill>
                  <a:latin typeface="Roboto"/>
                  <a:ea typeface="Roboto"/>
                  <a:cs typeface="Roboto"/>
                  <a:sym typeface="Roboto"/>
                </a:rPr>
                <a:t>ಪ್ರಸ್ತುತಿ:</a:t>
              </a:r>
              <a:endParaRPr b="1" sz="2000">
                <a:solidFill>
                  <a:srgbClr val="FFD700"/>
                </a:solidFill>
                <a:latin typeface="Roboto"/>
                <a:ea typeface="Roboto"/>
                <a:cs typeface="Roboto"/>
                <a:sym typeface="Roboto"/>
              </a:endParaRPr>
            </a:p>
            <a:p>
              <a:pPr indent="0" lvl="0" marL="0" rtl="0" algn="ctr">
                <a:spcBef>
                  <a:spcPts val="1500"/>
                </a:spcBef>
                <a:spcAft>
                  <a:spcPts val="0"/>
                </a:spcAft>
                <a:buNone/>
              </a:pPr>
              <a:r>
                <a:rPr b="1" lang="en" sz="2100">
                  <a:solidFill>
                    <a:srgbClr val="FFFFFF"/>
                  </a:solidFill>
                  <a:latin typeface="Roboto"/>
                  <a:ea typeface="Roboto"/>
                  <a:cs typeface="Roboto"/>
                  <a:sym typeface="Roboto"/>
                </a:rPr>
                <a:t>ಶ್ರೀ ಚಂದ್ರಕಾಂತ ಗೌಡ</a:t>
              </a:r>
              <a:endParaRPr b="1" sz="2100">
                <a:solidFill>
                  <a:srgbClr val="FFFFFF"/>
                </a:solidFill>
                <a:latin typeface="Roboto"/>
                <a:ea typeface="Roboto"/>
                <a:cs typeface="Roboto"/>
                <a:sym typeface="Roboto"/>
              </a:endParaRPr>
            </a:p>
            <a:p>
              <a:pPr indent="0" lvl="0" marL="0" rtl="0" algn="ctr">
                <a:spcBef>
                  <a:spcPts val="750"/>
                </a:spcBef>
                <a:spcAft>
                  <a:spcPts val="0"/>
                </a:spcAft>
                <a:buNone/>
              </a:pPr>
              <a:r>
                <a:rPr b="0" lang="en" sz="1800">
                  <a:solidFill>
                    <a:srgbClr val="FFFFFF"/>
                  </a:solidFill>
                  <a:latin typeface="Roboto"/>
                  <a:ea typeface="Roboto"/>
                  <a:cs typeface="Roboto"/>
                  <a:sym typeface="Roboto"/>
                </a:rPr>
                <a:t>ಜಿ.ಪಿ.ಟಿ. ಸಮಾಜ ವಿಜ್ಞಾನ ಶಿಕ್ಷಕರು</a:t>
              </a:r>
              <a:endParaRPr b="0" sz="1800">
                <a:solidFill>
                  <a:srgbClr val="FFFFFF"/>
                </a:solidFill>
                <a:latin typeface="Roboto"/>
                <a:ea typeface="Roboto"/>
                <a:cs typeface="Roboto"/>
                <a:sym typeface="Roboto"/>
              </a:endParaRPr>
            </a:p>
            <a:p>
              <a:pPr indent="0" lvl="0" marL="0" rtl="0" algn="ctr">
                <a:spcBef>
                  <a:spcPts val="750"/>
                </a:spcBef>
                <a:spcAft>
                  <a:spcPts val="0"/>
                </a:spcAft>
                <a:buNone/>
              </a:pPr>
              <a:r>
                <a:rPr b="0" lang="en" sz="1800">
                  <a:solidFill>
                    <a:srgbClr val="FFFFFF"/>
                  </a:solidFill>
                  <a:latin typeface="Roboto"/>
                  <a:ea typeface="Roboto"/>
                  <a:cs typeface="Roboto"/>
                  <a:sym typeface="Roboto"/>
                </a:rPr>
                <a:t>ಸ.ಹಿ.ಪ್ರಾ.ಶಾಲೆ ಚೆಂಡಿಯಾ ನಂ.1 ತಾ: ಕಾರವಾರ, ಉತ್ತರ ಕನ್ನಡ</a:t>
              </a:r>
              <a:endParaRPr b="0" sz="1800">
                <a:solidFill>
                  <a:srgbClr val="FFFFFF"/>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